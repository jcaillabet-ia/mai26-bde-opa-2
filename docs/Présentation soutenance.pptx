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y="5143500" cx="9144000"/>
  <p:notesSz cx="6858000" cy="9144000"/>
  <p:embeddedFontLst>
    <p:embeddedFont>
      <p:font typeface="Old Standard TT"/>
      <p:regular r:id="rId39"/>
      <p:bold r:id="rId40"/>
      <p: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700B9C9-9B36-457C-98CA-BAEFBE193F8A}">
  <a:tblStyle styleId="{F700B9C9-9B36-457C-98CA-BAEFBE193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OldStandardTT-bold.fntdata"/><Relationship Id="rId20" Type="http://schemas.openxmlformats.org/officeDocument/2006/relationships/slide" Target="slides/slide14.xml"/><Relationship Id="rId41" Type="http://schemas.openxmlformats.org/officeDocument/2006/relationships/font" Target="fonts/OldStandardTT-italic.fntdata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font" Target="fonts/OldStandardTT-regular.fntdata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0357f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c6f9035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c6f90357f_0_13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c6f90357f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c6f90357f_0_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c6f9035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53d890198_1_1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53d890198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c6f90357f_0_1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c6f90357f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f53d890198_1_2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f53d890198_1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c6f90357f_0_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c6f90357f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512876158_0_83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512876158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f59ad5aefb_0_48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f59ad5aefb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512876158_0_2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f512876158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f512876158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f51287615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f512876158_0_53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f512876158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523cd78d4_0_3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f523cd78d4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c6f90357f_0_2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c6f90357f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c6f90357f_0_3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c6f90357f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c6f90357f_0_3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c6f90357f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f512876158_0_4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f512876158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f512876158_0_4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f512876158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f523cd78d4_0_8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f523cd78d4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f59ad5aefb_0_6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f59ad5aefb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f3b710c75f_0_2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f3b710c75f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f3b710c75f_0_36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f3b710c75f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f523cd78d4_0_78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f523cd78d4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f512876158_0_6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f512876158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f512876158_0_8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f512876158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512876158_0_7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f512876158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f512876158_0_1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f512876158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f512876158_0_7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3f512876158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f3b710c75f_0_4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3f3b710c75f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f3b710c75f_0_4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f3b710c75f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f512876158_0_16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f512876158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c6f90357f_0_4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c6f90357f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" name="Google Shape;12;p2"/>
          <p:cNvSpPr txBox="1"/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" name="Google Shape;17;p3"/>
          <p:cNvSpPr txBox="1"/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" name="Google Shape;34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perback">
    <p:bg>
      <p:bgPr>
        <a:solidFill>
          <a:schemeClr val="accen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8.png"/><Relationship Id="rId4" Type="http://schemas.openxmlformats.org/officeDocument/2006/relationships/image" Target="../media/image2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Relationship Id="rId4" Type="http://schemas.openxmlformats.org/officeDocument/2006/relationships/image" Target="../media/image2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2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0.png"/><Relationship Id="rId4" Type="http://schemas.openxmlformats.org/officeDocument/2006/relationships/image" Target="../media/image27.png"/><Relationship Id="rId5" Type="http://schemas.openxmlformats.org/officeDocument/2006/relationships/image" Target="../media/image32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1.png"/><Relationship Id="rId4" Type="http://schemas.openxmlformats.org/officeDocument/2006/relationships/image" Target="../media/image3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Projet crypto-bot</a:t>
            </a:r>
            <a:endParaRPr/>
          </a:p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Par Julien CAILLABET et Maxime MANGA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Plan</a:t>
            </a:r>
            <a:endParaRPr/>
          </a:p>
        </p:txBody>
      </p:sp>
      <p:sp>
        <p:nvSpPr>
          <p:cNvPr id="66" name="Google Shape;66;p14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4"/>
          <p:cNvSpPr txBox="1"/>
          <p:nvPr>
            <p:ph idx="2" type="body"/>
          </p:nvPr>
        </p:nvSpPr>
        <p:spPr>
          <a:xfrm>
            <a:off x="4939500" y="731764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fr" sz="1400"/>
              <a:t>Objetif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fr" sz="1400"/>
              <a:t>Docker compose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fr" sz="1400"/>
              <a:t>Fast API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fr" sz="1400"/>
              <a:t>Ingestion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fr" sz="1400"/>
              <a:t>Machine Learning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fr" sz="1400"/>
              <a:t>Base de données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fr" sz="1400"/>
              <a:t>Pipelines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fr" sz="1400"/>
              <a:t>Tests unitaires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fr" sz="1400"/>
              <a:t>CI/CD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fr" sz="1400"/>
              <a:t>Dashboard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1600"/>
              </a:spcAft>
              <a:buSzPts val="1400"/>
              <a:buChar char="●"/>
            </a:pPr>
            <a:r>
              <a:rPr lang="fr" sz="1400"/>
              <a:t>Conclusion / Am</a:t>
            </a:r>
            <a:r>
              <a:rPr lang="fr" sz="1400"/>
              <a:t>éliorations</a:t>
            </a:r>
            <a:endParaRPr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/>
          <p:nvPr/>
        </p:nvSpPr>
        <p:spPr>
          <a:xfrm>
            <a:off x="3418325" y="188600"/>
            <a:ext cx="30000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5400">
                <a:solidFill>
                  <a:schemeClr val="accent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Objectif</a:t>
            </a:r>
            <a:endParaRPr/>
          </a:p>
        </p:txBody>
      </p:sp>
      <p:sp>
        <p:nvSpPr>
          <p:cNvPr id="73" name="Google Shape;73;p15"/>
          <p:cNvSpPr/>
          <p:nvPr/>
        </p:nvSpPr>
        <p:spPr>
          <a:xfrm>
            <a:off x="2476938" y="2058421"/>
            <a:ext cx="1258200" cy="8331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5383863" y="2058421"/>
            <a:ext cx="1258200" cy="8331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75" name="Google Shape;75;p15"/>
          <p:cNvSpPr txBox="1"/>
          <p:nvPr/>
        </p:nvSpPr>
        <p:spPr>
          <a:xfrm>
            <a:off x="801413" y="2244121"/>
            <a:ext cx="1258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Catalogue</a:t>
            </a:r>
            <a:endParaRPr b="1" sz="18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4022951" y="2244129"/>
            <a:ext cx="1084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Pipeline</a:t>
            </a:r>
            <a:endParaRPr b="1" sz="18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7016288" y="2244121"/>
            <a:ext cx="132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Dashboard</a:t>
            </a:r>
            <a:endParaRPr b="1" sz="18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-170000" y="2921004"/>
            <a:ext cx="2890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-"/>
            </a:pPr>
            <a:r>
              <a:rPr i="1" lang="fr"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Sélection de monnaies</a:t>
            </a:r>
            <a:endParaRPr i="1" sz="18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5551550" y="2921004"/>
            <a:ext cx="3637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-"/>
            </a:pPr>
            <a:r>
              <a:rPr i="1" lang="fr"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Affichage cours / prédiction</a:t>
            </a:r>
            <a:endParaRPr i="1" sz="18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Structure du projet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Docker compose</a:t>
            </a:r>
            <a:endParaRPr/>
          </a:p>
        </p:txBody>
      </p:sp>
      <p:pic>
        <p:nvPicPr>
          <p:cNvPr id="90" name="Google Shape;9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219125"/>
            <a:ext cx="3180650" cy="76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85875" y="503300"/>
            <a:ext cx="5505450" cy="4308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1700" y="2033215"/>
            <a:ext cx="3180650" cy="14224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FastAPI</a:t>
            </a:r>
            <a:endParaRPr/>
          </a:p>
        </p:txBody>
      </p:sp>
      <p:pic>
        <p:nvPicPr>
          <p:cNvPr id="98" name="Google Shape;98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38600" y="1392339"/>
            <a:ext cx="3220350" cy="36462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8"/>
          <p:cNvSpPr txBox="1"/>
          <p:nvPr/>
        </p:nvSpPr>
        <p:spPr>
          <a:xfrm>
            <a:off x="2474000" y="2549389"/>
            <a:ext cx="48969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-"/>
            </a:pPr>
            <a:r>
              <a:rPr lang="fr"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Initialisation de Cassandra</a:t>
            </a:r>
            <a:endParaRPr sz="18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-"/>
            </a:pPr>
            <a:r>
              <a:rPr lang="fr"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Initialisation de FastAPI</a:t>
            </a:r>
            <a:endParaRPr sz="18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-"/>
            </a:pPr>
            <a:r>
              <a:rPr lang="fr"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Middleware d’autorisation </a:t>
            </a:r>
            <a:endParaRPr sz="18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des services externs</a:t>
            </a:r>
            <a:endParaRPr sz="18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-"/>
            </a:pPr>
            <a:r>
              <a:rPr lang="fr"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Déclaration des routes</a:t>
            </a:r>
            <a:endParaRPr sz="18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pic>
        <p:nvPicPr>
          <p:cNvPr id="100" name="Google Shape;100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210625"/>
            <a:ext cx="2019299" cy="1808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3051233"/>
            <a:ext cx="2019299" cy="19398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/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Ingestion</a:t>
            </a:r>
            <a:endParaRPr/>
          </a:p>
        </p:txBody>
      </p:sp>
      <p:pic>
        <p:nvPicPr>
          <p:cNvPr id="107" name="Google Shape;10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2700" y="4114075"/>
            <a:ext cx="533400" cy="53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55700" y="3980725"/>
            <a:ext cx="800100" cy="80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Format bougie (k-line)</a:t>
            </a:r>
            <a:endParaRPr/>
          </a:p>
        </p:txBody>
      </p:sp>
      <p:sp>
        <p:nvSpPr>
          <p:cNvPr id="114" name="Google Shape;114;p20"/>
          <p:cNvSpPr txBox="1"/>
          <p:nvPr/>
        </p:nvSpPr>
        <p:spPr>
          <a:xfrm>
            <a:off x="311700" y="1424050"/>
            <a:ext cx="1809600" cy="170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1600"/>
              <a:buFont typeface="Old Standard TT"/>
              <a:buChar char="●"/>
            </a:pPr>
            <a:r>
              <a:rPr lang="fr" sz="1600">
                <a:solidFill>
                  <a:srgbClr val="666666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open</a:t>
            </a:r>
            <a:endParaRPr sz="1600">
              <a:solidFill>
                <a:srgbClr val="666666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-33020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600"/>
              <a:buFont typeface="Old Standard TT"/>
              <a:buChar char="●"/>
            </a:pPr>
            <a:r>
              <a:rPr lang="fr" sz="1600">
                <a:solidFill>
                  <a:srgbClr val="666666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high</a:t>
            </a:r>
            <a:endParaRPr sz="1600">
              <a:solidFill>
                <a:srgbClr val="666666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-33020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600"/>
              <a:buFont typeface="Old Standard TT"/>
              <a:buChar char="●"/>
            </a:pPr>
            <a:r>
              <a:rPr lang="fr" sz="1600">
                <a:solidFill>
                  <a:srgbClr val="666666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low </a:t>
            </a:r>
            <a:endParaRPr sz="1600">
              <a:solidFill>
                <a:srgbClr val="666666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-33020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600"/>
              <a:buFont typeface="Old Standard TT"/>
              <a:buChar char="●"/>
            </a:pPr>
            <a:r>
              <a:rPr lang="fr" sz="1600">
                <a:solidFill>
                  <a:srgbClr val="666666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close</a:t>
            </a:r>
            <a:endParaRPr sz="1600">
              <a:solidFill>
                <a:srgbClr val="666666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-33020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600"/>
              <a:buFont typeface="Old Standard TT"/>
              <a:buChar char="●"/>
            </a:pPr>
            <a:r>
              <a:rPr lang="fr" sz="1600">
                <a:solidFill>
                  <a:srgbClr val="666666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volume</a:t>
            </a:r>
            <a:endParaRPr sz="1600">
              <a:solidFill>
                <a:srgbClr val="666666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457200" lvl="0" marL="0" rtl="0"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fr" sz="1600">
                <a:solidFill>
                  <a:srgbClr val="666666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(ohlcv)</a:t>
            </a:r>
            <a:endParaRPr sz="1600">
              <a:solidFill>
                <a:srgbClr val="666666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pic>
        <p:nvPicPr>
          <p:cNvPr id="115" name="Google Shape;11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73700" y="1210625"/>
            <a:ext cx="3052001" cy="2408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78101" y="1390900"/>
            <a:ext cx="3513498" cy="22281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1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CCXT</a:t>
            </a:r>
            <a:endParaRPr/>
          </a:p>
        </p:txBody>
      </p:sp>
      <p:sp>
        <p:nvSpPr>
          <p:cNvPr id="122" name="Google Shape;122;p21"/>
          <p:cNvSpPr txBox="1"/>
          <p:nvPr>
            <p:ph idx="2" type="body"/>
          </p:nvPr>
        </p:nvSpPr>
        <p:spPr>
          <a:xfrm>
            <a:off x="311700" y="125162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800"/>
              <a:t>Utilisation</a:t>
            </a:r>
            <a:endParaRPr b="1" sz="1800"/>
          </a:p>
          <a:p>
            <a:pPr indent="-330200" lvl="0" marL="457200" rtl="0" algn="l">
              <a:spcBef>
                <a:spcPts val="1600"/>
              </a:spcBef>
              <a:spcAft>
                <a:spcPts val="0"/>
              </a:spcAft>
              <a:buSzPts val="1600"/>
              <a:buChar char="●"/>
            </a:pPr>
            <a:r>
              <a:rPr lang="fr" sz="1600"/>
              <a:t>Classique pour la récupération du passé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fr" sz="1600"/>
              <a:t>Websocket pour la récupération du présent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b="1" lang="fr" sz="1800"/>
              <a:t>Réflexivité</a:t>
            </a:r>
            <a:endParaRPr sz="1600"/>
          </a:p>
        </p:txBody>
      </p:sp>
      <p:pic>
        <p:nvPicPr>
          <p:cNvPr id="123" name="Google Shape;123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615425"/>
            <a:ext cx="4293350" cy="49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1"/>
          <p:cNvSpPr txBox="1"/>
          <p:nvPr>
            <p:ph idx="2" type="body"/>
          </p:nvPr>
        </p:nvSpPr>
        <p:spPr>
          <a:xfrm>
            <a:off x="4755225" y="125162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800"/>
              <a:t>Routes</a:t>
            </a:r>
            <a:endParaRPr b="1" sz="1800"/>
          </a:p>
          <a:p>
            <a:pPr indent="0" lvl="0" marL="4572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600"/>
          </a:p>
        </p:txBody>
      </p:sp>
      <p:pic>
        <p:nvPicPr>
          <p:cNvPr id="125" name="Google Shape;125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32400" y="1806400"/>
            <a:ext cx="3999900" cy="10903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CoinGecko</a:t>
            </a:r>
            <a:endParaRPr/>
          </a:p>
        </p:txBody>
      </p:sp>
      <p:sp>
        <p:nvSpPr>
          <p:cNvPr id="131" name="Google Shape;131;p22"/>
          <p:cNvSpPr txBox="1"/>
          <p:nvPr/>
        </p:nvSpPr>
        <p:spPr>
          <a:xfrm>
            <a:off x="355306" y="924975"/>
            <a:ext cx="2434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b="1" lang="fr" sz="15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Contruction du catalogue</a:t>
            </a:r>
            <a:r>
              <a:rPr b="1" lang="fr" sz="15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 :</a:t>
            </a:r>
            <a:endParaRPr sz="13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132" name="Google Shape;132;p22"/>
          <p:cNvSpPr txBox="1"/>
          <p:nvPr/>
        </p:nvSpPr>
        <p:spPr>
          <a:xfrm>
            <a:off x="79950" y="1429625"/>
            <a:ext cx="3000000" cy="1154400"/>
          </a:xfrm>
          <a:prstGeom prst="rect">
            <a:avLst/>
          </a:prstGeom>
          <a:solidFill>
            <a:srgbClr val="1B1D1E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coin_markets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90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coins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markets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9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vs_currency</a:t>
            </a:r>
            <a:r>
              <a:rPr lang="fr" sz="90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fr" sz="900">
                <a:solidFill>
                  <a:srgbClr val="CE9178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'eur'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per_page</a:t>
            </a:r>
            <a:r>
              <a:rPr lang="fr" sz="90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length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page</a:t>
            </a:r>
            <a:r>
              <a:rPr lang="fr" sz="90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fr" sz="900">
                <a:solidFill>
                  <a:srgbClr val="B5CEA8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sz="900">
              <a:solidFill>
                <a:srgbClr val="B5CEA8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)</a:t>
            </a:r>
            <a:endParaRPr sz="9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33" name="Google Shape;133;p22"/>
          <p:cNvSpPr txBox="1"/>
          <p:nvPr/>
        </p:nvSpPr>
        <p:spPr>
          <a:xfrm>
            <a:off x="5393125" y="3639850"/>
            <a:ext cx="3000000" cy="323100"/>
          </a:xfrm>
          <a:prstGeom prst="rect">
            <a:avLst/>
          </a:prstGeom>
          <a:solidFill>
            <a:srgbClr val="1B1D1E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exchange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load_markets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().</a:t>
            </a: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values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9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34" name="Google Shape;134;p22"/>
          <p:cNvSpPr/>
          <p:nvPr/>
        </p:nvSpPr>
        <p:spPr>
          <a:xfrm>
            <a:off x="3136625" y="1393025"/>
            <a:ext cx="1393800" cy="1227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latin typeface="Old Standard TT"/>
                <a:ea typeface="Old Standard TT"/>
                <a:cs typeface="Old Standard TT"/>
                <a:sym typeface="Old Standard TT"/>
              </a:rPr>
              <a:t>Coin market</a:t>
            </a:r>
            <a:endParaRPr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135" name="Google Shape;135;p22"/>
          <p:cNvSpPr/>
          <p:nvPr/>
        </p:nvSpPr>
        <p:spPr>
          <a:xfrm>
            <a:off x="3136625" y="3284800"/>
            <a:ext cx="1393800" cy="1227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latin typeface="Old Standard TT"/>
                <a:ea typeface="Old Standard TT"/>
                <a:cs typeface="Old Standard TT"/>
                <a:sym typeface="Old Standard TT"/>
              </a:rPr>
              <a:t>Exchanges</a:t>
            </a:r>
            <a:endParaRPr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136" name="Google Shape;136;p22"/>
          <p:cNvSpPr/>
          <p:nvPr/>
        </p:nvSpPr>
        <p:spPr>
          <a:xfrm>
            <a:off x="5393125" y="2246775"/>
            <a:ext cx="1393800" cy="1227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latin typeface="Old Standard TT"/>
                <a:ea typeface="Old Standard TT"/>
                <a:cs typeface="Old Standard TT"/>
                <a:sym typeface="Old Standard TT"/>
              </a:rPr>
              <a:t>Filtre</a:t>
            </a:r>
            <a:endParaRPr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137" name="Google Shape;137;p22"/>
          <p:cNvSpPr txBox="1"/>
          <p:nvPr/>
        </p:nvSpPr>
        <p:spPr>
          <a:xfrm>
            <a:off x="222075" y="3382525"/>
            <a:ext cx="2647200" cy="323100"/>
          </a:xfrm>
          <a:prstGeom prst="rect">
            <a:avLst/>
          </a:prstGeom>
          <a:solidFill>
            <a:srgbClr val="1B1D1E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exchanges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90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ccxt.</a:t>
            </a: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exchanges</a:t>
            </a:r>
            <a:endParaRPr sz="900">
              <a:solidFill>
                <a:srgbClr val="9CDCFE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38" name="Google Shape;138;p22"/>
          <p:cNvCxnSpPr>
            <a:stCxn id="134" idx="3"/>
            <a:endCxn id="136" idx="1"/>
          </p:cNvCxnSpPr>
          <p:nvPr/>
        </p:nvCxnSpPr>
        <p:spPr>
          <a:xfrm>
            <a:off x="4530425" y="2006825"/>
            <a:ext cx="862800" cy="853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139" name="Google Shape;139;p22"/>
          <p:cNvCxnSpPr>
            <a:stCxn id="135" idx="3"/>
            <a:endCxn id="136" idx="1"/>
          </p:cNvCxnSpPr>
          <p:nvPr/>
        </p:nvCxnSpPr>
        <p:spPr>
          <a:xfrm flipH="1" rot="10800000">
            <a:off x="4530425" y="2860600"/>
            <a:ext cx="862800" cy="1038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sp>
        <p:nvSpPr>
          <p:cNvPr id="140" name="Google Shape;140;p22"/>
          <p:cNvSpPr txBox="1"/>
          <p:nvPr/>
        </p:nvSpPr>
        <p:spPr>
          <a:xfrm>
            <a:off x="222075" y="4138575"/>
            <a:ext cx="2434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b="1" lang="fr" sz="15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( CCXT )</a:t>
            </a:r>
            <a:endParaRPr sz="13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141" name="Google Shape;141;p22"/>
          <p:cNvSpPr txBox="1"/>
          <p:nvPr/>
        </p:nvSpPr>
        <p:spPr>
          <a:xfrm>
            <a:off x="222081" y="2531775"/>
            <a:ext cx="2434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b="1" lang="fr" sz="15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250</a:t>
            </a:r>
            <a:r>
              <a:rPr b="1" lang="fr" sz="15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 monnaies</a:t>
            </a:r>
            <a:endParaRPr sz="13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142" name="Google Shape;142;p22"/>
          <p:cNvSpPr txBox="1"/>
          <p:nvPr/>
        </p:nvSpPr>
        <p:spPr>
          <a:xfrm>
            <a:off x="5393227" y="4020350"/>
            <a:ext cx="14826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b="1" lang="fr" sz="15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221 monnaies</a:t>
            </a:r>
            <a:endParaRPr sz="13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3"/>
          <p:cNvSpPr txBox="1"/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Machine Learning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/>
          <p:nvPr>
            <p:ph idx="2" type="body"/>
          </p:nvPr>
        </p:nvSpPr>
        <p:spPr>
          <a:xfrm>
            <a:off x="311700" y="125162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800"/>
              <a:t>Difficultées rencontrées</a:t>
            </a:r>
            <a:endParaRPr b="1" sz="1800"/>
          </a:p>
          <a:p>
            <a:pPr indent="-330200" lvl="0" marL="457200" rtl="0" algn="l">
              <a:spcBef>
                <a:spcPts val="1600"/>
              </a:spcBef>
              <a:spcAft>
                <a:spcPts val="0"/>
              </a:spcAft>
              <a:buSzPts val="1600"/>
              <a:buChar char="●"/>
            </a:pPr>
            <a:r>
              <a:rPr lang="fr" sz="1600"/>
              <a:t>Série temporelle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fr" sz="1600"/>
              <a:t>Micro-variations (bruit)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fr" sz="1600"/>
              <a:t>Choix de la cible de pr</a:t>
            </a:r>
            <a:r>
              <a:rPr lang="fr" sz="1600"/>
              <a:t>édiction</a:t>
            </a:r>
            <a:endParaRPr sz="1600"/>
          </a:p>
        </p:txBody>
      </p:sp>
      <p:sp>
        <p:nvSpPr>
          <p:cNvPr id="153" name="Google Shape;153;p24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Contexte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24"/>
          <p:cNvSpPr txBox="1"/>
          <p:nvPr>
            <p:ph idx="2" type="body"/>
          </p:nvPr>
        </p:nvSpPr>
        <p:spPr>
          <a:xfrm>
            <a:off x="4832400" y="125162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800"/>
              <a:t>Traitement</a:t>
            </a:r>
            <a:endParaRPr b="1" sz="1800"/>
          </a:p>
          <a:p>
            <a:pPr indent="-330200" lvl="0" marL="457200" rtl="0" algn="l">
              <a:spcBef>
                <a:spcPts val="1600"/>
              </a:spcBef>
              <a:spcAft>
                <a:spcPts val="0"/>
              </a:spcAft>
              <a:buSzPts val="1600"/>
              <a:buChar char="●"/>
            </a:pPr>
            <a:r>
              <a:rPr lang="fr" sz="1600"/>
              <a:t>Traitement de la cible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fr" sz="1600"/>
              <a:t>Lissage ( Moyenne )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fr" sz="1600"/>
              <a:t>Création de features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fr" sz="1600"/>
              <a:t>Informations du passé ( 10 points )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fr" sz="1600"/>
              <a:t>Echantillonage des donn</a:t>
            </a:r>
            <a:r>
              <a:rPr lang="fr" sz="1600"/>
              <a:t>ées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fr" sz="1600"/>
              <a:t>Choix du pas de r</a:t>
            </a:r>
            <a:r>
              <a:rPr lang="fr" sz="1600"/>
              <a:t>écupération des données ( </a:t>
            </a:r>
            <a:r>
              <a:rPr b="1" lang="fr" sz="1600"/>
              <a:t>1h</a:t>
            </a:r>
            <a:r>
              <a:rPr lang="fr" sz="1600"/>
              <a:t> )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fr" sz="1600"/>
              <a:t>Choix de la cible ( prédiction à </a:t>
            </a:r>
            <a:r>
              <a:rPr b="1" lang="fr" sz="1600"/>
              <a:t>j+1</a:t>
            </a:r>
            <a:r>
              <a:rPr lang="fr" sz="1600"/>
              <a:t>)</a:t>
            </a:r>
            <a:endParaRPr sz="1600"/>
          </a:p>
        </p:txBody>
      </p:sp>
      <p:cxnSp>
        <p:nvCxnSpPr>
          <p:cNvPr id="155" name="Google Shape;155;p24"/>
          <p:cNvCxnSpPr/>
          <p:nvPr/>
        </p:nvCxnSpPr>
        <p:spPr>
          <a:xfrm>
            <a:off x="3702000" y="2739300"/>
            <a:ext cx="870000" cy="15000"/>
          </a:xfrm>
          <a:prstGeom prst="straightConnector1">
            <a:avLst/>
          </a:prstGeom>
          <a:noFill/>
          <a:ln cap="flat" cmpd="sng" w="76200">
            <a:solidFill>
              <a:srgbClr val="1B1D1E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5"/>
          <p:cNvSpPr txBox="1"/>
          <p:nvPr>
            <p:ph idx="2" type="body"/>
          </p:nvPr>
        </p:nvSpPr>
        <p:spPr>
          <a:xfrm>
            <a:off x="311700" y="125162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800"/>
              <a:t>Classification</a:t>
            </a:r>
            <a:endParaRPr b="1" sz="1800"/>
          </a:p>
          <a:p>
            <a:pPr indent="-330200" lvl="0" marL="457200" rtl="0" algn="l">
              <a:spcBef>
                <a:spcPts val="1600"/>
              </a:spcBef>
              <a:spcAft>
                <a:spcPts val="0"/>
              </a:spcAft>
              <a:buSzPts val="1600"/>
              <a:buChar char="●"/>
            </a:pPr>
            <a:r>
              <a:rPr b="1" lang="fr" sz="1600"/>
              <a:t>0</a:t>
            </a:r>
            <a:r>
              <a:rPr lang="fr" sz="1600"/>
              <a:t> : baisse / pas de variation : vendre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fr" sz="1600"/>
              <a:t>1</a:t>
            </a:r>
            <a:r>
              <a:rPr lang="fr" sz="1600"/>
              <a:t> : hausse : achat</a:t>
            </a:r>
            <a:endParaRPr sz="1600"/>
          </a:p>
          <a:p>
            <a:pPr indent="0" lvl="0" marL="4572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161" name="Google Shape;161;p25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Choix du mod</a:t>
            </a:r>
            <a:r>
              <a:rPr lang="fr"/>
              <a:t>èle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5"/>
          <p:cNvSpPr txBox="1"/>
          <p:nvPr>
            <p:ph idx="2" type="body"/>
          </p:nvPr>
        </p:nvSpPr>
        <p:spPr>
          <a:xfrm>
            <a:off x="4311600" y="1251625"/>
            <a:ext cx="45207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800"/>
              <a:t>Score</a:t>
            </a:r>
            <a:endParaRPr b="1" sz="1800"/>
          </a:p>
          <a:p>
            <a:pPr indent="-330200" lvl="0" marL="457200" rtl="0" algn="l">
              <a:spcBef>
                <a:spcPts val="1600"/>
              </a:spcBef>
              <a:spcAft>
                <a:spcPts val="0"/>
              </a:spcAft>
              <a:buSzPts val="1600"/>
              <a:buChar char="●"/>
            </a:pPr>
            <a:r>
              <a:rPr lang="fr" sz="1600"/>
              <a:t>Faux négatif pas important dans notre contexte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fr" sz="1600"/>
              <a:t>Faux positif </a:t>
            </a:r>
            <a:r>
              <a:rPr lang="fr" sz="1600"/>
              <a:t>à minimiser =&gt; </a:t>
            </a:r>
            <a:r>
              <a:rPr b="1" lang="fr" sz="1600"/>
              <a:t>précision</a:t>
            </a:r>
            <a:endParaRPr b="1" sz="1600"/>
          </a:p>
        </p:txBody>
      </p:sp>
      <p:graphicFrame>
        <p:nvGraphicFramePr>
          <p:cNvPr id="163" name="Google Shape;163;p25"/>
          <p:cNvGraphicFramePr/>
          <p:nvPr/>
        </p:nvGraphicFramePr>
        <p:xfrm>
          <a:off x="311700" y="278621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{F700B9C9-9B36-457C-98CA-BAEFBE193F8A}</a:tableStyleId>
              </a:tblPr>
              <a:tblGrid>
                <a:gridCol w="3215700"/>
                <a:gridCol w="801075"/>
              </a:tblGrid>
              <a:tr h="313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Modèle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Score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4572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" sz="1600">
                          <a:solidFill>
                            <a:schemeClr val="dk1"/>
                          </a:solidFill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RandomForestClassifier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0.59</a:t>
                      </a:r>
                      <a:endParaRPr b="1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4572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" sz="1600">
                          <a:solidFill>
                            <a:schemeClr val="dk1"/>
                          </a:solidFill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GradientBoostingClassifier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0.52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4572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" sz="1600">
                          <a:solidFill>
                            <a:schemeClr val="dk1"/>
                          </a:solidFill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LogisticRegression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0.55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4572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" sz="1600">
                          <a:solidFill>
                            <a:schemeClr val="dk1"/>
                          </a:solidFill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DecisionTreeClassifier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0.54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id="164" name="Google Shape;16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32775" y="3467401"/>
            <a:ext cx="4446300" cy="1421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6"/>
          <p:cNvSpPr txBox="1"/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Base(s) de </a:t>
            </a:r>
            <a:r>
              <a:rPr lang="fr"/>
              <a:t>données</a:t>
            </a:r>
            <a:endParaRPr/>
          </a:p>
        </p:txBody>
      </p:sp>
      <p:pic>
        <p:nvPicPr>
          <p:cNvPr id="170" name="Google Shape;170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1050" y="3963575"/>
            <a:ext cx="886874" cy="9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26" title="pngwing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60425" y="3844437"/>
            <a:ext cx="1708262" cy="115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7"/>
          <p:cNvSpPr txBox="1"/>
          <p:nvPr/>
        </p:nvSpPr>
        <p:spPr>
          <a:xfrm>
            <a:off x="0" y="53325"/>
            <a:ext cx="91440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0">
                <a:solidFill>
                  <a:schemeClr val="accent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PostgreSQL     </a:t>
            </a:r>
            <a:r>
              <a:rPr lang="fr" sz="6000">
                <a:solidFill>
                  <a:schemeClr val="accent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Cassandra</a:t>
            </a:r>
            <a:endParaRPr sz="6000">
              <a:solidFill>
                <a:schemeClr val="accent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pic>
        <p:nvPicPr>
          <p:cNvPr id="177" name="Google Shape;177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5950" y="1161513"/>
            <a:ext cx="4495800" cy="2924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8" name="Google Shape;178;p27"/>
          <p:cNvCxnSpPr/>
          <p:nvPr/>
        </p:nvCxnSpPr>
        <p:spPr>
          <a:xfrm>
            <a:off x="4583850" y="568550"/>
            <a:ext cx="0" cy="38640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8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PostgreSQL</a:t>
            </a:r>
            <a:endParaRPr/>
          </a:p>
        </p:txBody>
      </p:sp>
      <p:pic>
        <p:nvPicPr>
          <p:cNvPr id="184" name="Google Shape;184;p28" title="Capture d’écran 2026-07-16 à 14.07.4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1500" y="1153675"/>
            <a:ext cx="2250325" cy="3631848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/>
          <p:nvPr/>
        </p:nvSpPr>
        <p:spPr>
          <a:xfrm>
            <a:off x="322025" y="3006206"/>
            <a:ext cx="2707200" cy="399900"/>
          </a:xfrm>
          <a:prstGeom prst="rect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186" name="Google Shape;186;p28"/>
          <p:cNvSpPr txBox="1"/>
          <p:nvPr/>
        </p:nvSpPr>
        <p:spPr>
          <a:xfrm>
            <a:off x="2451825" y="2975306"/>
            <a:ext cx="577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Tri</a:t>
            </a:r>
            <a:endParaRPr sz="18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187" name="Google Shape;187;p28"/>
          <p:cNvSpPr/>
          <p:nvPr/>
        </p:nvSpPr>
        <p:spPr>
          <a:xfrm>
            <a:off x="323152" y="3408225"/>
            <a:ext cx="3897600" cy="399900"/>
          </a:xfrm>
          <a:prstGeom prst="rect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188" name="Google Shape;188;p28"/>
          <p:cNvSpPr txBox="1"/>
          <p:nvPr/>
        </p:nvSpPr>
        <p:spPr>
          <a:xfrm>
            <a:off x="2452972" y="3377325"/>
            <a:ext cx="1866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Fournisseur ccxt</a:t>
            </a:r>
            <a:endParaRPr sz="18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189" name="Google Shape;189;p28"/>
          <p:cNvSpPr/>
          <p:nvPr/>
        </p:nvSpPr>
        <p:spPr>
          <a:xfrm>
            <a:off x="321975" y="3839025"/>
            <a:ext cx="3096900" cy="399900"/>
          </a:xfrm>
          <a:prstGeom prst="rect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190" name="Google Shape;190;p28"/>
          <p:cNvSpPr txBox="1"/>
          <p:nvPr/>
        </p:nvSpPr>
        <p:spPr>
          <a:xfrm>
            <a:off x="2451775" y="3808125"/>
            <a:ext cx="105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Pipeline</a:t>
            </a:r>
            <a:endParaRPr sz="18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191" name="Google Shape;191;p28"/>
          <p:cNvSpPr/>
          <p:nvPr/>
        </p:nvSpPr>
        <p:spPr>
          <a:xfrm>
            <a:off x="321925" y="4269825"/>
            <a:ext cx="2847300" cy="399900"/>
          </a:xfrm>
          <a:prstGeom prst="rect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192" name="Google Shape;192;p28"/>
          <p:cNvSpPr txBox="1"/>
          <p:nvPr/>
        </p:nvSpPr>
        <p:spPr>
          <a:xfrm>
            <a:off x="2451725" y="4238925"/>
            <a:ext cx="1306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Score ML</a:t>
            </a:r>
            <a:endParaRPr sz="18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pic>
        <p:nvPicPr>
          <p:cNvPr id="193" name="Google Shape;193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71372" y="1210625"/>
            <a:ext cx="4520227" cy="27922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9"/>
          <p:cNvSpPr txBox="1"/>
          <p:nvPr>
            <p:ph idx="2" type="body"/>
          </p:nvPr>
        </p:nvSpPr>
        <p:spPr>
          <a:xfrm>
            <a:off x="311700" y="1058225"/>
            <a:ext cx="4260300" cy="399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500"/>
              <a:t>Recommendations :</a:t>
            </a:r>
            <a:endParaRPr b="1" sz="1500"/>
          </a:p>
          <a:p>
            <a:pPr indent="-311150" lvl="0" marL="457200" rtl="0" algn="l">
              <a:spcBef>
                <a:spcPts val="1600"/>
              </a:spcBef>
              <a:spcAft>
                <a:spcPts val="0"/>
              </a:spcAft>
              <a:buSzPts val="1300"/>
              <a:buChar char="●"/>
            </a:pPr>
            <a:r>
              <a:rPr lang="fr" sz="1300"/>
              <a:t>Moins de 100 000 lignes par partions</a:t>
            </a: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fr" sz="1300"/>
              <a:t>Partition de 100 Mo Max</a:t>
            </a: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fr" sz="1300"/>
              <a:t>Moins de 10 Mo par ligne</a:t>
            </a:r>
            <a:endParaRPr sz="13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b="1" lang="fr" sz="1500"/>
              <a:t>Partitionement</a:t>
            </a:r>
            <a:r>
              <a:rPr lang="fr" sz="1500"/>
              <a:t> ( pas de 1 heure ) </a:t>
            </a:r>
            <a:r>
              <a:rPr b="1" lang="fr" sz="1500"/>
              <a:t>:</a:t>
            </a:r>
            <a:endParaRPr b="1" sz="1500"/>
          </a:p>
          <a:p>
            <a:pPr indent="-311150" lvl="0" marL="457200" rtl="0" algn="l">
              <a:spcBef>
                <a:spcPts val="1600"/>
              </a:spcBef>
              <a:spcAft>
                <a:spcPts val="0"/>
              </a:spcAft>
              <a:buSzPts val="1300"/>
              <a:buChar char="●"/>
            </a:pPr>
            <a:r>
              <a:rPr lang="fr" sz="1300"/>
              <a:t>Clé de partitionnement : </a:t>
            </a:r>
            <a:r>
              <a:rPr b="1" lang="fr" sz="1300"/>
              <a:t>crypto_id</a:t>
            </a:r>
            <a:r>
              <a:rPr lang="fr" sz="1300"/>
              <a:t> + </a:t>
            </a:r>
            <a:r>
              <a:rPr b="1" lang="fr" sz="1300"/>
              <a:t>bucket_date</a:t>
            </a:r>
            <a:endParaRPr b="1"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fr" sz="1300"/>
              <a:t>Cle de clustering : </a:t>
            </a:r>
            <a:r>
              <a:rPr b="1" lang="fr" sz="1300"/>
              <a:t>timestamp</a:t>
            </a:r>
            <a:endParaRPr b="1"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fr" sz="1300"/>
              <a:t>Taille par ligne : 16 (coin_id)+10 (bucket_date)+64 (timestamp)+8 (open)+8 (high)+8 (low)+8 (close)+8 (volume)=</a:t>
            </a:r>
            <a:r>
              <a:rPr b="1" lang="fr" sz="1300"/>
              <a:t>130 octets</a:t>
            </a:r>
            <a:endParaRPr b="1"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fr" sz="1300"/>
              <a:t>8784 lignes </a:t>
            </a:r>
            <a:r>
              <a:rPr lang="fr" sz="1300"/>
              <a:t>(366*24)</a:t>
            </a:r>
            <a:endParaRPr sz="13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fr" sz="1300"/>
              <a:t>1,1 Mo</a:t>
            </a:r>
            <a:r>
              <a:rPr lang="fr" sz="1300"/>
              <a:t> </a:t>
            </a:r>
            <a:r>
              <a:rPr b="1" lang="fr" sz="1300"/>
              <a:t>par partition </a:t>
            </a:r>
            <a:r>
              <a:rPr lang="fr" sz="1300"/>
              <a:t>( 8784 * 130 )</a:t>
            </a:r>
            <a:endParaRPr sz="1300"/>
          </a:p>
        </p:txBody>
      </p:sp>
      <p:sp>
        <p:nvSpPr>
          <p:cNvPr id="199" name="Google Shape;199;p29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Cassandra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0" name="Google Shape;200;p29" title="Capture d’écran 2026-07-16 à 14.08.0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79775" y="2299150"/>
            <a:ext cx="1587185" cy="275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47450" y="695975"/>
            <a:ext cx="3919500" cy="1603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0"/>
          <p:cNvSpPr txBox="1"/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Pipeline Airflow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1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Airflow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31"/>
          <p:cNvSpPr txBox="1"/>
          <p:nvPr>
            <p:ph idx="2" type="body"/>
          </p:nvPr>
        </p:nvSpPr>
        <p:spPr>
          <a:xfrm>
            <a:off x="311700" y="1058225"/>
            <a:ext cx="3828000" cy="399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500"/>
              <a:t>Factorisation des pipelines</a:t>
            </a:r>
            <a:r>
              <a:rPr b="1" lang="fr" sz="1500"/>
              <a:t> :</a:t>
            </a:r>
            <a:endParaRPr b="1" sz="1500"/>
          </a:p>
          <a:p>
            <a:pPr indent="-323850" lvl="0" marL="457200" rtl="0" algn="l">
              <a:spcBef>
                <a:spcPts val="1600"/>
              </a:spcBef>
              <a:spcAft>
                <a:spcPts val="0"/>
              </a:spcAft>
              <a:buSzPts val="1500"/>
              <a:buChar char="●"/>
            </a:pPr>
            <a:r>
              <a:rPr lang="fr" sz="1500"/>
              <a:t>Dynamic Task Mapping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fr" sz="1500"/>
              <a:t>Task group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fr" sz="1500"/>
              <a:t>Duplication de tâches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fr" sz="1500"/>
              <a:t>Appel manuels</a:t>
            </a:r>
            <a:endParaRPr sz="1500"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4572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300"/>
          </a:p>
        </p:txBody>
      </p:sp>
      <p:sp>
        <p:nvSpPr>
          <p:cNvPr id="213" name="Google Shape;213;p31"/>
          <p:cNvSpPr txBox="1"/>
          <p:nvPr>
            <p:ph idx="2" type="body"/>
          </p:nvPr>
        </p:nvSpPr>
        <p:spPr>
          <a:xfrm>
            <a:off x="4950450" y="1146900"/>
            <a:ext cx="3828000" cy="399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500"/>
              <a:t>Task groups</a:t>
            </a:r>
            <a:r>
              <a:rPr b="1" lang="fr" sz="1500"/>
              <a:t> :</a:t>
            </a:r>
            <a:endParaRPr b="1" sz="15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fr" sz="1500"/>
              <a:t>ELT :</a:t>
            </a:r>
            <a:endParaRPr sz="1500"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500"/>
              <a:t>Pipeline principal</a:t>
            </a:r>
            <a:r>
              <a:rPr lang="fr" sz="1500"/>
              <a:t> :</a:t>
            </a:r>
            <a:endParaRPr sz="1300"/>
          </a:p>
        </p:txBody>
      </p:sp>
      <p:pic>
        <p:nvPicPr>
          <p:cNvPr id="214" name="Google Shape;21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34850" y="2164375"/>
            <a:ext cx="5943600" cy="56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95775" y="3907451"/>
            <a:ext cx="5943600" cy="962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2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Airflow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32"/>
          <p:cNvSpPr txBox="1"/>
          <p:nvPr>
            <p:ph idx="2" type="body"/>
          </p:nvPr>
        </p:nvSpPr>
        <p:spPr>
          <a:xfrm>
            <a:off x="311700" y="1058225"/>
            <a:ext cx="3828000" cy="399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500"/>
              <a:t>Pipeline manuel</a:t>
            </a:r>
            <a:r>
              <a:rPr b="1" lang="fr" sz="1500"/>
              <a:t> :</a:t>
            </a:r>
            <a:endParaRPr b="1" sz="1500"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4572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300"/>
          </a:p>
        </p:txBody>
      </p:sp>
      <p:pic>
        <p:nvPicPr>
          <p:cNvPr id="222" name="Google Shape;222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447800"/>
            <a:ext cx="8445400" cy="194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3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Airflow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33"/>
          <p:cNvSpPr txBox="1"/>
          <p:nvPr>
            <p:ph idx="2" type="body"/>
          </p:nvPr>
        </p:nvSpPr>
        <p:spPr>
          <a:xfrm>
            <a:off x="311700" y="1058225"/>
            <a:ext cx="3828000" cy="399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500"/>
              <a:t>Ingestion</a:t>
            </a:r>
            <a:r>
              <a:rPr b="1" lang="fr" sz="1500"/>
              <a:t> :</a:t>
            </a:r>
            <a:endParaRPr b="1" sz="15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fr" sz="1500"/>
              <a:t>( </a:t>
            </a:r>
            <a:r>
              <a:rPr lang="fr" sz="1500"/>
              <a:t>Chaque mois )</a:t>
            </a:r>
            <a:endParaRPr sz="1500"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4572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300"/>
          </a:p>
        </p:txBody>
      </p:sp>
      <p:pic>
        <p:nvPicPr>
          <p:cNvPr id="229" name="Google Shape;229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0475" y="2060775"/>
            <a:ext cx="5843575" cy="127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4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Airflow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34"/>
          <p:cNvSpPr txBox="1"/>
          <p:nvPr>
            <p:ph idx="2" type="body"/>
          </p:nvPr>
        </p:nvSpPr>
        <p:spPr>
          <a:xfrm>
            <a:off x="311700" y="1058225"/>
            <a:ext cx="3828000" cy="399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500"/>
              <a:t>Streaming</a:t>
            </a:r>
            <a:r>
              <a:rPr b="1" lang="fr" sz="1500"/>
              <a:t> :</a:t>
            </a:r>
            <a:endParaRPr b="1" sz="15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fr" sz="1500"/>
              <a:t>( Chaque heure )</a:t>
            </a:r>
            <a:endParaRPr sz="1500"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4572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300"/>
          </a:p>
        </p:txBody>
      </p:sp>
      <p:pic>
        <p:nvPicPr>
          <p:cNvPr id="236" name="Google Shape;236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9450" y="2069025"/>
            <a:ext cx="8465100" cy="141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5"/>
          <p:cNvSpPr txBox="1"/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Tests unitaires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6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Pytest pour FastAPI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36"/>
          <p:cNvSpPr txBox="1"/>
          <p:nvPr/>
        </p:nvSpPr>
        <p:spPr>
          <a:xfrm>
            <a:off x="411600" y="1209425"/>
            <a:ext cx="3000000" cy="3855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tests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9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fr" sz="90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image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lang="fr" sz="900">
                <a:solidFill>
                  <a:srgbClr val="CE9178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python:3.11-slim</a:t>
            </a:r>
            <a:endParaRPr sz="900">
              <a:solidFill>
                <a:srgbClr val="CE9178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fr" sz="90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container_name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lang="fr" sz="900">
                <a:solidFill>
                  <a:srgbClr val="CE9178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tests</a:t>
            </a:r>
            <a:endParaRPr sz="900">
              <a:solidFill>
                <a:srgbClr val="CE9178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fr" sz="90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profiles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9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 - </a:t>
            </a:r>
            <a:r>
              <a:rPr lang="fr" sz="900">
                <a:solidFill>
                  <a:srgbClr val="CE9178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test</a:t>
            </a:r>
            <a:endParaRPr sz="900">
              <a:solidFill>
                <a:srgbClr val="CE9178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fr" sz="90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volumes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9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 - </a:t>
            </a:r>
            <a:r>
              <a:rPr lang="fr" sz="900">
                <a:solidFill>
                  <a:srgbClr val="CE9178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./tests:/app</a:t>
            </a:r>
            <a:endParaRPr sz="900">
              <a:solidFill>
                <a:srgbClr val="CE9178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fr" sz="90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working_dir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lang="fr" sz="900">
                <a:solidFill>
                  <a:srgbClr val="CE9178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/app</a:t>
            </a:r>
            <a:endParaRPr sz="900">
              <a:solidFill>
                <a:srgbClr val="CE9178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fr" sz="90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environment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9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 - </a:t>
            </a:r>
            <a:r>
              <a:rPr lang="fr" sz="900">
                <a:solidFill>
                  <a:srgbClr val="CE9178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PYTHONPATH=/app</a:t>
            </a:r>
            <a:endParaRPr sz="900">
              <a:solidFill>
                <a:srgbClr val="CE9178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fr" sz="90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depends_on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9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 </a:t>
            </a:r>
            <a:r>
              <a:rPr lang="fr" sz="90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api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9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fr" sz="90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lang="fr" sz="900">
                <a:solidFill>
                  <a:srgbClr val="CE9178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service_healthy</a:t>
            </a:r>
            <a:endParaRPr sz="900">
              <a:solidFill>
                <a:srgbClr val="CE9178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fr" sz="90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entrypoint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lang="fr" sz="90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endParaRPr sz="900">
              <a:solidFill>
                <a:srgbClr val="C586C0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fr" sz="900">
                <a:solidFill>
                  <a:srgbClr val="CE9178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sh -c " pip install httpx &amp;&amp; pip install pytest &amp;&amp; pytest -v "</a:t>
            </a:r>
            <a:endParaRPr sz="900">
              <a:solidFill>
                <a:srgbClr val="CE9178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fr" sz="90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networks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9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 </a:t>
            </a:r>
            <a:r>
              <a:rPr lang="fr" sz="90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crypto-network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9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48" name="Google Shape;248;p36"/>
          <p:cNvSpPr txBox="1"/>
          <p:nvPr/>
        </p:nvSpPr>
        <p:spPr>
          <a:xfrm>
            <a:off x="4971175" y="3703025"/>
            <a:ext cx="3000000" cy="13623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90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httpx</a:t>
            </a:r>
            <a:endParaRPr sz="900">
              <a:solidFill>
                <a:srgbClr val="4EC9B0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90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test_root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():</a:t>
            </a:r>
            <a:endParaRPr sz="9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url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90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900">
                <a:solidFill>
                  <a:srgbClr val="CE9178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"http://api:8000/"</a:t>
            </a:r>
            <a:endParaRPr sz="900">
              <a:solidFill>
                <a:srgbClr val="CE9178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response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90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90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httpx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fr" sz="90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url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fr" sz="90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assert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response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fr" sz="90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status_code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90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fr" sz="90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900">
                <a:solidFill>
                  <a:srgbClr val="B5CEA8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404</a:t>
            </a:r>
            <a:endParaRPr sz="900">
              <a:solidFill>
                <a:srgbClr val="B5CEA8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249" name="Google Shape;249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71175" y="1209425"/>
            <a:ext cx="2014350" cy="1190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7"/>
          <p:cNvSpPr txBox="1"/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Pipelines CI/CD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8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Github actions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60" name="Google Shape;260;p38" title="Capture d’écran 2026-07-16 à 14.29.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475" y="1599725"/>
            <a:ext cx="4059374" cy="225387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38"/>
          <p:cNvSpPr txBox="1"/>
          <p:nvPr>
            <p:ph idx="1" type="body"/>
          </p:nvPr>
        </p:nvSpPr>
        <p:spPr>
          <a:xfrm>
            <a:off x="133475" y="1058225"/>
            <a:ext cx="3999900" cy="54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800"/>
              <a:t>Test unitaires</a:t>
            </a:r>
            <a:endParaRPr b="1" sz="18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262" name="Google Shape;262;p38"/>
          <p:cNvSpPr txBox="1"/>
          <p:nvPr>
            <p:ph idx="1" type="body"/>
          </p:nvPr>
        </p:nvSpPr>
        <p:spPr>
          <a:xfrm>
            <a:off x="4780525" y="1058225"/>
            <a:ext cx="3999900" cy="54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800"/>
              <a:t>Build image</a:t>
            </a:r>
            <a:endParaRPr b="1" sz="18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600"/>
          </a:p>
        </p:txBody>
      </p:sp>
      <p:pic>
        <p:nvPicPr>
          <p:cNvPr id="263" name="Google Shape;263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31200" y="1599724"/>
            <a:ext cx="4301102" cy="1339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31200" y="2976500"/>
            <a:ext cx="2335674" cy="2108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9"/>
          <p:cNvSpPr txBox="1"/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Dashboard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0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Streamlit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75" name="Google Shape;275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10625"/>
            <a:ext cx="3586350" cy="2453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91150" y="1210625"/>
            <a:ext cx="4380902" cy="3780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1"/>
          <p:cNvSpPr txBox="1"/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Monitoring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2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Prometheus / Grafana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87" name="Google Shape;28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10625"/>
            <a:ext cx="3619651" cy="1926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24451" y="1210625"/>
            <a:ext cx="5067151" cy="2766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3"/>
          <p:cNvSpPr txBox="1"/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Conclusion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4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Conclusion</a:t>
            </a:r>
            <a:endParaRPr/>
          </a:p>
        </p:txBody>
      </p:sp>
      <p:sp>
        <p:nvSpPr>
          <p:cNvPr id="299" name="Google Shape;299;p44"/>
          <p:cNvSpPr txBox="1"/>
          <p:nvPr/>
        </p:nvSpPr>
        <p:spPr>
          <a:xfrm>
            <a:off x="311700" y="1004925"/>
            <a:ext cx="8520600" cy="244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5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Pistes d'amélioration</a:t>
            </a:r>
            <a:r>
              <a:rPr b="1" lang="fr" sz="15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 :</a:t>
            </a:r>
            <a:endParaRPr b="1" sz="15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Old Standard TT"/>
              <a:buChar char="●"/>
            </a:pPr>
            <a:r>
              <a:rPr lang="fr" sz="13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Mise au point plus poussée de Cassandra</a:t>
            </a:r>
            <a:endParaRPr sz="13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Old Standard TT"/>
              <a:buChar char="●"/>
            </a:pPr>
            <a:r>
              <a:rPr lang="fr" sz="13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Meilleurs prédictions</a:t>
            </a:r>
            <a:endParaRPr sz="13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Old Standard TT"/>
              <a:buChar char="●"/>
            </a:pPr>
            <a:r>
              <a:rPr lang="fr" sz="13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Mise en place d'une vraie Landing Zone en production</a:t>
            </a:r>
            <a:endParaRPr sz="13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Old Standard TT"/>
              <a:buChar char="●"/>
            </a:pPr>
            <a:r>
              <a:rPr lang="fr" sz="13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Refactoring ( paramétrage de la période )</a:t>
            </a:r>
            <a:endParaRPr sz="13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Old Standard TT"/>
              <a:buChar char="●"/>
            </a:pPr>
            <a:r>
              <a:rPr lang="fr" sz="13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Autres sources de données ( analyse de sentiments d’articles de presse )</a:t>
            </a:r>
            <a:endParaRPr sz="13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Old Standard TT"/>
              <a:buChar char="●"/>
            </a:pPr>
            <a:r>
              <a:rPr lang="fr" sz="13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Robustesse des appels à CCXT</a:t>
            </a:r>
            <a:endParaRPr sz="13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