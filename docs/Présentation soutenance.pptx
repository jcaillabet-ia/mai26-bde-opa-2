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Old Standard TT"/>
      <p:regular r:id="rId39"/>
      <p:bold r:id="rId40"/>
      <p: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DA9769-4BB8-4E49-9C5B-E7515FAB5B6F}">
  <a:tblStyle styleId="{F3DA9769-4BB8-4E49-9C5B-E7515FAB5B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ldStandardTT-bold.fntdata"/><Relationship Id="rId20" Type="http://schemas.openxmlformats.org/officeDocument/2006/relationships/slide" Target="slides/slide14.xml"/><Relationship Id="rId41" Type="http://schemas.openxmlformats.org/officeDocument/2006/relationships/font" Target="fonts/OldStandardTT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OldStandardTT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3d890198_1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53d89019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c6f90357f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c6f9035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53d890198_1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53d890198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512876158_0_8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51287615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59ad5aefb_0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59ad5aef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512876158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51287615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51287615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5128761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512876158_0_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51287615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523cd78d4_0_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523cd78d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c6f90357f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c6f9035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c6f90357f_0_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c6f90357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512876158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51287615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512876158_0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51287615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523cd78d4_0_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f523cd78d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59ad5aefb_0_6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59ad5aef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3b710c75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3b710c75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3b710c75f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3b710c75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523cd78d4_0_7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f523cd78d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512876158_0_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51287615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512876158_0_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f51287615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512876158_0_7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51287615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512876158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51287615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512876158_0_7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51287615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3b710c75f_0_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3b710c75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3b710c75f_0_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f3b710c75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512876158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f51287615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c6f90357f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c6f90357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Projet crypto-bot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 Julien CAILLABET et Maxime MANGA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Plan</a:t>
            </a:r>
            <a:endParaRPr/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4939500" y="862914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Objectif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Docker compose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Fast API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Ingestion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Machine Learning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Base de données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Pipelines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Tests unitaires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CI/CD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Dashboard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lang="fr" sz="1400"/>
              <a:t>Conclusion / Am</a:t>
            </a:r>
            <a:r>
              <a:rPr lang="fr" sz="1400"/>
              <a:t>éliorations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3418325" y="188600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54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Objectif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2476938" y="2058421"/>
            <a:ext cx="1258200" cy="83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5383863" y="2058421"/>
            <a:ext cx="1258200" cy="83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801413" y="2244121"/>
            <a:ext cx="125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Catalogue</a:t>
            </a:r>
            <a:endParaRPr b="1"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022951" y="2244129"/>
            <a:ext cx="10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Pipeline</a:t>
            </a:r>
            <a:endParaRPr b="1"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7016288" y="2244121"/>
            <a:ext cx="13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Dashboard</a:t>
            </a:r>
            <a:endParaRPr b="1"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-170000" y="2921004"/>
            <a:ext cx="28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-"/>
            </a:pPr>
            <a:r>
              <a:rPr i="1" lang="fr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Sélection de monnaies</a:t>
            </a:r>
            <a:endParaRPr i="1"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551550" y="2921004"/>
            <a:ext cx="363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-"/>
            </a:pPr>
            <a:r>
              <a:rPr i="1" lang="fr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Affichage cours / prédiction</a:t>
            </a:r>
            <a:endParaRPr i="1"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Structure du projet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Docker compose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19125"/>
            <a:ext cx="3180650" cy="76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5875" y="503300"/>
            <a:ext cx="5505450" cy="43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033215"/>
            <a:ext cx="3180650" cy="1422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FastAPI</a:t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8600" y="1392339"/>
            <a:ext cx="3220350" cy="364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2474000" y="2549389"/>
            <a:ext cx="4896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-"/>
            </a:pPr>
            <a:r>
              <a:rPr lang="fr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Initialisation de Cassandra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-"/>
            </a:pPr>
            <a:r>
              <a:rPr lang="fr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Initialisation de FastAPI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-"/>
            </a:pPr>
            <a:r>
              <a:rPr lang="fr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Middleware d’autorisation 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des services externes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-"/>
            </a:pPr>
            <a:r>
              <a:rPr lang="fr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Déclaration des routes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10625"/>
            <a:ext cx="2019299" cy="180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051233"/>
            <a:ext cx="2019299" cy="1939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Ingestion</a:t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700" y="411407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5700" y="3980725"/>
            <a:ext cx="80010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Format bougie (k-line)</a:t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311700" y="1424050"/>
            <a:ext cx="1809600" cy="17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Old Standard TT"/>
              <a:buChar char="●"/>
            </a:pPr>
            <a:r>
              <a:rPr lang="fr" sz="1600">
                <a:solidFill>
                  <a:srgbClr val="666666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open</a:t>
            </a:r>
            <a:endParaRPr sz="1600">
              <a:solidFill>
                <a:srgbClr val="666666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Old Standard TT"/>
              <a:buChar char="●"/>
            </a:pPr>
            <a:r>
              <a:rPr lang="fr" sz="1600">
                <a:solidFill>
                  <a:srgbClr val="666666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high</a:t>
            </a:r>
            <a:endParaRPr sz="1600">
              <a:solidFill>
                <a:srgbClr val="666666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Old Standard TT"/>
              <a:buChar char="●"/>
            </a:pPr>
            <a:r>
              <a:rPr lang="fr" sz="1600">
                <a:solidFill>
                  <a:srgbClr val="666666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low </a:t>
            </a:r>
            <a:endParaRPr sz="1600">
              <a:solidFill>
                <a:srgbClr val="666666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Old Standard TT"/>
              <a:buChar char="●"/>
            </a:pPr>
            <a:r>
              <a:rPr lang="fr" sz="1600">
                <a:solidFill>
                  <a:srgbClr val="666666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close</a:t>
            </a:r>
            <a:endParaRPr sz="1600">
              <a:solidFill>
                <a:srgbClr val="666666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Old Standard TT"/>
              <a:buChar char="●"/>
            </a:pPr>
            <a:r>
              <a:rPr lang="fr" sz="1600">
                <a:solidFill>
                  <a:srgbClr val="666666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volume</a:t>
            </a:r>
            <a:endParaRPr sz="1600">
              <a:solidFill>
                <a:srgbClr val="666666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666666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(ohlcv)</a:t>
            </a:r>
            <a:endParaRPr sz="1600">
              <a:solidFill>
                <a:srgbClr val="666666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3700" y="1210625"/>
            <a:ext cx="3052001" cy="240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8101" y="1390900"/>
            <a:ext cx="3513498" cy="2228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CCXT</a:t>
            </a:r>
            <a:endParaRPr/>
          </a:p>
        </p:txBody>
      </p:sp>
      <p:sp>
        <p:nvSpPr>
          <p:cNvPr id="122" name="Google Shape;122;p21"/>
          <p:cNvSpPr txBox="1"/>
          <p:nvPr>
            <p:ph idx="2" type="body"/>
          </p:nvPr>
        </p:nvSpPr>
        <p:spPr>
          <a:xfrm>
            <a:off x="311700" y="125162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/>
              <a:t>Utilisation</a:t>
            </a:r>
            <a:endParaRPr b="1" sz="18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Classique pour la récupération du passé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Websocket pour la récupération du présent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fr" sz="1800"/>
              <a:t>Réflexivité</a:t>
            </a:r>
            <a:endParaRPr sz="1600"/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615425"/>
            <a:ext cx="4293350" cy="49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>
            <p:ph idx="2" type="body"/>
          </p:nvPr>
        </p:nvSpPr>
        <p:spPr>
          <a:xfrm>
            <a:off x="4755225" y="125162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/>
              <a:t>Routes</a:t>
            </a:r>
            <a:endParaRPr b="1" sz="18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2400" y="1806400"/>
            <a:ext cx="3999900" cy="1090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CoinGecko</a:t>
            </a:r>
            <a:endParaRPr/>
          </a:p>
        </p:txBody>
      </p:sp>
      <p:sp>
        <p:nvSpPr>
          <p:cNvPr id="131" name="Google Shape;131;p22"/>
          <p:cNvSpPr txBox="1"/>
          <p:nvPr/>
        </p:nvSpPr>
        <p:spPr>
          <a:xfrm>
            <a:off x="355306" y="924975"/>
            <a:ext cx="243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fr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Contruction du catalogue</a:t>
            </a:r>
            <a:r>
              <a:rPr b="1" lang="fr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: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79950" y="1429625"/>
            <a:ext cx="3000000" cy="1154400"/>
          </a:xfrm>
          <a:prstGeom prst="rect">
            <a:avLst/>
          </a:prstGeom>
          <a:solidFill>
            <a:srgbClr val="1B1D1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coin_markets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coins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markets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vs_currency</a:t>
            </a:r>
            <a:r>
              <a:rPr lang="fr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" sz="9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'eur'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per_page</a:t>
            </a:r>
            <a:r>
              <a:rPr lang="fr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page</a:t>
            </a:r>
            <a:r>
              <a:rPr lang="fr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" sz="9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900">
              <a:solidFill>
                <a:srgbClr val="B5CEA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)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5393125" y="3639850"/>
            <a:ext cx="3000000" cy="323100"/>
          </a:xfrm>
          <a:prstGeom prst="rect">
            <a:avLst/>
          </a:prstGeom>
          <a:solidFill>
            <a:srgbClr val="1B1D1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exchange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load_markets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3136625" y="1393025"/>
            <a:ext cx="1393800" cy="122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Old Standard TT"/>
                <a:ea typeface="Old Standard TT"/>
                <a:cs typeface="Old Standard TT"/>
                <a:sym typeface="Old Standard TT"/>
              </a:rPr>
              <a:t>Coin market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3136625" y="3284800"/>
            <a:ext cx="1393800" cy="122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Old Standard TT"/>
                <a:ea typeface="Old Standard TT"/>
                <a:cs typeface="Old Standard TT"/>
                <a:sym typeface="Old Standard TT"/>
              </a:rPr>
              <a:t>Exchanges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5393125" y="2246775"/>
            <a:ext cx="1393800" cy="122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Old Standard TT"/>
                <a:ea typeface="Old Standard TT"/>
                <a:cs typeface="Old Standard TT"/>
                <a:sym typeface="Old Standard TT"/>
              </a:rPr>
              <a:t>Filtre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222075" y="3382525"/>
            <a:ext cx="2647200" cy="323100"/>
          </a:xfrm>
          <a:prstGeom prst="rect">
            <a:avLst/>
          </a:prstGeom>
          <a:solidFill>
            <a:srgbClr val="1B1D1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exchanges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ccxt.</a:t>
            </a: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exchanges</a:t>
            </a:r>
            <a:endParaRPr sz="900">
              <a:solidFill>
                <a:srgbClr val="9CDCFE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38" name="Google Shape;138;p22"/>
          <p:cNvCxnSpPr>
            <a:stCxn id="134" idx="3"/>
            <a:endCxn id="136" idx="1"/>
          </p:cNvCxnSpPr>
          <p:nvPr/>
        </p:nvCxnSpPr>
        <p:spPr>
          <a:xfrm>
            <a:off x="4530425" y="2006825"/>
            <a:ext cx="862800" cy="85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9" name="Google Shape;139;p22"/>
          <p:cNvCxnSpPr>
            <a:stCxn id="135" idx="3"/>
            <a:endCxn id="136" idx="1"/>
          </p:cNvCxnSpPr>
          <p:nvPr/>
        </p:nvCxnSpPr>
        <p:spPr>
          <a:xfrm flipH="1" rot="10800000">
            <a:off x="4530425" y="2860600"/>
            <a:ext cx="862800" cy="103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0" name="Google Shape;140;p22"/>
          <p:cNvSpPr txBox="1"/>
          <p:nvPr/>
        </p:nvSpPr>
        <p:spPr>
          <a:xfrm>
            <a:off x="222075" y="4138575"/>
            <a:ext cx="243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fr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 CCXT )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222081" y="2531775"/>
            <a:ext cx="243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fr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250</a:t>
            </a:r>
            <a:r>
              <a:rPr b="1" lang="fr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monnaies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5393227" y="4020350"/>
            <a:ext cx="148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fr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221 monnaies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Machine Learning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idx="2" type="body"/>
          </p:nvPr>
        </p:nvSpPr>
        <p:spPr>
          <a:xfrm>
            <a:off x="311700" y="125162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/>
              <a:t>Difficultées rencontrées</a:t>
            </a:r>
            <a:endParaRPr b="1" sz="18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Série temporelle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Micro-variations (bruit)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Choix de la cible de pr</a:t>
            </a:r>
            <a:r>
              <a:rPr lang="fr" sz="1600"/>
              <a:t>édiction</a:t>
            </a:r>
            <a:endParaRPr sz="1600"/>
          </a:p>
        </p:txBody>
      </p:sp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Contexte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4"/>
          <p:cNvSpPr txBox="1"/>
          <p:nvPr>
            <p:ph idx="2" type="body"/>
          </p:nvPr>
        </p:nvSpPr>
        <p:spPr>
          <a:xfrm>
            <a:off x="4832400" y="125162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/>
              <a:t>Traitement</a:t>
            </a:r>
            <a:endParaRPr b="1" sz="18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Traitement de la cible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Lissage ( Moyenne 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Création de features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Informations du passé ( 10 points )</a:t>
            </a:r>
            <a:endParaRPr sz="1600"/>
          </a:p>
        </p:txBody>
      </p:sp>
      <p:cxnSp>
        <p:nvCxnSpPr>
          <p:cNvPr id="155" name="Google Shape;155;p24"/>
          <p:cNvCxnSpPr/>
          <p:nvPr/>
        </p:nvCxnSpPr>
        <p:spPr>
          <a:xfrm>
            <a:off x="3702000" y="2739300"/>
            <a:ext cx="870000" cy="15000"/>
          </a:xfrm>
          <a:prstGeom prst="straightConnector1">
            <a:avLst/>
          </a:prstGeom>
          <a:noFill/>
          <a:ln cap="flat" cmpd="sng" w="76200">
            <a:solidFill>
              <a:srgbClr val="1B1D1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p24"/>
          <p:cNvSpPr txBox="1"/>
          <p:nvPr/>
        </p:nvSpPr>
        <p:spPr>
          <a:xfrm>
            <a:off x="2038800" y="3358575"/>
            <a:ext cx="41964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ld Standard TT"/>
              <a:buChar char="●"/>
            </a:pPr>
            <a:r>
              <a:rPr lang="fr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Echantillonage des données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ld Standard TT"/>
              <a:buChar char="○"/>
            </a:pPr>
            <a:r>
              <a:rPr lang="fr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Choix du pas de récupération des données ( </a:t>
            </a:r>
            <a:r>
              <a:rPr b="1" lang="fr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1h</a:t>
            </a:r>
            <a:r>
              <a:rPr lang="fr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)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ld Standard TT"/>
              <a:buChar char="●"/>
            </a:pPr>
            <a:r>
              <a:rPr lang="fr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Choix de la cible ( prédiction à </a:t>
            </a:r>
            <a:r>
              <a:rPr b="1" lang="fr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j+1 / 24</a:t>
            </a:r>
            <a:r>
              <a:rPr lang="fr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points horaire)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idx="2" type="body"/>
          </p:nvPr>
        </p:nvSpPr>
        <p:spPr>
          <a:xfrm>
            <a:off x="311700" y="125162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/>
              <a:t>Classification</a:t>
            </a:r>
            <a:endParaRPr b="1" sz="18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b="1" lang="fr" sz="1600"/>
              <a:t>0</a:t>
            </a:r>
            <a:r>
              <a:rPr lang="fr" sz="1600"/>
              <a:t> : baisse / pas de variation : vendre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fr" sz="1600"/>
              <a:t>1</a:t>
            </a:r>
            <a:r>
              <a:rPr lang="fr" sz="1600"/>
              <a:t> : hausse : achat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2" name="Google Shape;162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Choix du mod</a:t>
            </a:r>
            <a:r>
              <a:rPr lang="fr"/>
              <a:t>èle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5"/>
          <p:cNvSpPr txBox="1"/>
          <p:nvPr>
            <p:ph idx="2" type="body"/>
          </p:nvPr>
        </p:nvSpPr>
        <p:spPr>
          <a:xfrm>
            <a:off x="4311600" y="1251625"/>
            <a:ext cx="45207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/>
              <a:t>Score</a:t>
            </a:r>
            <a:endParaRPr b="1" sz="18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Faux négatif est un moindre mal dans notre contexte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fr" sz="1600"/>
              <a:t>Faux positif </a:t>
            </a:r>
            <a:r>
              <a:rPr lang="fr" sz="1600"/>
              <a:t>à minimiser =&gt; </a:t>
            </a:r>
            <a:r>
              <a:rPr b="1" lang="fr" sz="1600"/>
              <a:t>précision</a:t>
            </a:r>
            <a:endParaRPr b="1" sz="1600"/>
          </a:p>
        </p:txBody>
      </p:sp>
      <p:graphicFrame>
        <p:nvGraphicFramePr>
          <p:cNvPr id="164" name="Google Shape;164;p25"/>
          <p:cNvGraphicFramePr/>
          <p:nvPr/>
        </p:nvGraphicFramePr>
        <p:xfrm>
          <a:off x="311700" y="27862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{F3DA9769-4BB8-4E49-9C5B-E7515FAB5B6F}</a:tableStyleId>
              </a:tblPr>
              <a:tblGrid>
                <a:gridCol w="3215700"/>
                <a:gridCol w="801075"/>
              </a:tblGrid>
              <a:tr h="31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Modèle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Score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fr" sz="1600">
                          <a:solidFill>
                            <a:schemeClr val="dk1"/>
                          </a:solidFill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RandomForestClassifier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/>
                        <a:t>0.59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fr" sz="1600">
                          <a:solidFill>
                            <a:schemeClr val="dk1"/>
                          </a:solidFill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GradientBoostingClassifier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fr" sz="1600">
                          <a:solidFill>
                            <a:schemeClr val="dk1"/>
                          </a:solidFill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LogisticRegression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fr" sz="1600">
                          <a:solidFill>
                            <a:schemeClr val="dk1"/>
                          </a:solidFill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DecisionTreeClassifier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65" name="Google Shape;16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8200" y="3095851"/>
            <a:ext cx="4446300" cy="142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Base(s) de </a:t>
            </a:r>
            <a:r>
              <a:rPr lang="fr"/>
              <a:t>données</a:t>
            </a:r>
            <a:endParaRPr/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050" y="3963575"/>
            <a:ext cx="886874" cy="9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 title="pngwing.c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0425" y="3844437"/>
            <a:ext cx="1708262" cy="115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/>
        </p:nvSpPr>
        <p:spPr>
          <a:xfrm>
            <a:off x="0" y="53325"/>
            <a:ext cx="9144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PostgreSQL     </a:t>
            </a:r>
            <a:r>
              <a:rPr lang="fr" sz="60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Cassandra</a:t>
            </a:r>
            <a:endParaRPr sz="60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78" name="Google Shape;17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5950" y="1161513"/>
            <a:ext cx="4495800" cy="2924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27"/>
          <p:cNvCxnSpPr/>
          <p:nvPr/>
        </p:nvCxnSpPr>
        <p:spPr>
          <a:xfrm>
            <a:off x="4583850" y="568550"/>
            <a:ext cx="0" cy="3864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PostgreSQL</a:t>
            </a:r>
            <a:endParaRPr/>
          </a:p>
        </p:txBody>
      </p:sp>
      <p:pic>
        <p:nvPicPr>
          <p:cNvPr id="185" name="Google Shape;185;p28" title="Capture d’écran 2026-07-16 à 14.07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500" y="1153675"/>
            <a:ext cx="2250325" cy="363184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8"/>
          <p:cNvSpPr/>
          <p:nvPr/>
        </p:nvSpPr>
        <p:spPr>
          <a:xfrm>
            <a:off x="322025" y="3006206"/>
            <a:ext cx="2707200" cy="399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2451825" y="2975306"/>
            <a:ext cx="57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Tri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323152" y="3408225"/>
            <a:ext cx="3897600" cy="399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2452972" y="3377325"/>
            <a:ext cx="186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Fournisseur ccxt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321975" y="3839025"/>
            <a:ext cx="3096900" cy="399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91" name="Google Shape;191;p28"/>
          <p:cNvSpPr txBox="1"/>
          <p:nvPr/>
        </p:nvSpPr>
        <p:spPr>
          <a:xfrm>
            <a:off x="2451775" y="3808125"/>
            <a:ext cx="10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Pipeline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321925" y="4269825"/>
            <a:ext cx="3349800" cy="399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2451725" y="4238925"/>
            <a:ext cx="130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Score ML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94" name="Google Shape;19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1372" y="1210625"/>
            <a:ext cx="4520227" cy="2792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idx="2" type="body"/>
          </p:nvPr>
        </p:nvSpPr>
        <p:spPr>
          <a:xfrm>
            <a:off x="311700" y="1058225"/>
            <a:ext cx="4260300" cy="3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Recommendations :</a:t>
            </a:r>
            <a:endParaRPr b="1" sz="1500"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fr" sz="1300"/>
              <a:t>Moins de 100 000 lignes par partions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300"/>
              <a:t>Partition de 100 Mo Max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300"/>
              <a:t>Moins de 10 Mo par ligne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fr" sz="1500"/>
              <a:t>Partitionement</a:t>
            </a:r>
            <a:r>
              <a:rPr lang="fr" sz="1500"/>
              <a:t> ( pas de 1 heure ) </a:t>
            </a:r>
            <a:r>
              <a:rPr b="1" lang="fr" sz="1500"/>
              <a:t>:</a:t>
            </a:r>
            <a:endParaRPr b="1" sz="1500"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fr" sz="1300"/>
              <a:t>Clé de partitionnement : </a:t>
            </a:r>
            <a:r>
              <a:rPr b="1" lang="fr" sz="1300"/>
              <a:t>crypto_id</a:t>
            </a:r>
            <a:r>
              <a:rPr lang="fr" sz="1300"/>
              <a:t> + </a:t>
            </a:r>
            <a:r>
              <a:rPr b="1" lang="fr" sz="1300"/>
              <a:t>bucket_date</a:t>
            </a:r>
            <a:endParaRPr b="1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300"/>
              <a:t>Cle de clustering : </a:t>
            </a:r>
            <a:r>
              <a:rPr b="1" lang="fr" sz="1300"/>
              <a:t>timestamp</a:t>
            </a:r>
            <a:endParaRPr b="1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300"/>
              <a:t>Taille par ligne : 16 (coin_id)+10 (bucket_date)+64 (timestamp)+8 (open)+8 (high)+8 (low)+8 (close)+8 (volume)=</a:t>
            </a:r>
            <a:r>
              <a:rPr b="1" lang="fr" sz="1300"/>
              <a:t>130 octets</a:t>
            </a:r>
            <a:endParaRPr b="1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fr" sz="1300"/>
              <a:t>8784 lignes </a:t>
            </a:r>
            <a:r>
              <a:rPr lang="fr" sz="1300"/>
              <a:t>(366*24)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fr" sz="1300"/>
              <a:t>1,1 Mo</a:t>
            </a:r>
            <a:r>
              <a:rPr lang="fr" sz="1300"/>
              <a:t> </a:t>
            </a:r>
            <a:r>
              <a:rPr b="1" lang="fr" sz="1300"/>
              <a:t>par partition </a:t>
            </a:r>
            <a:r>
              <a:rPr lang="fr" sz="1300"/>
              <a:t>( 8784 * 130 )</a:t>
            </a:r>
            <a:endParaRPr sz="1300"/>
          </a:p>
        </p:txBody>
      </p:sp>
      <p:sp>
        <p:nvSpPr>
          <p:cNvPr id="200" name="Google Shape;200;p2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Cassandra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9" title="Capture d’écran 2026-07-16 à 14.08.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775" y="2299150"/>
            <a:ext cx="1587185" cy="275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7450" y="695975"/>
            <a:ext cx="3919500" cy="160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Pipeline Airflow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Airflow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1"/>
          <p:cNvSpPr txBox="1"/>
          <p:nvPr>
            <p:ph idx="2" type="body"/>
          </p:nvPr>
        </p:nvSpPr>
        <p:spPr>
          <a:xfrm>
            <a:off x="311700" y="1058225"/>
            <a:ext cx="3828000" cy="3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Factorisation des pipelines</a:t>
            </a:r>
            <a:r>
              <a:rPr b="1" lang="fr" sz="1500"/>
              <a:t> :</a:t>
            </a:r>
            <a:endParaRPr b="1"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fr" sz="1500"/>
              <a:t>Dynamic Task Mapping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fr" sz="1500"/>
              <a:t>Task group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fr" sz="1500"/>
              <a:t>Duplication des tâches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fr" sz="1500"/>
              <a:t>Appel manuels</a:t>
            </a:r>
            <a:endParaRPr sz="15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14" name="Google Shape;214;p31"/>
          <p:cNvSpPr txBox="1"/>
          <p:nvPr>
            <p:ph idx="2" type="body"/>
          </p:nvPr>
        </p:nvSpPr>
        <p:spPr>
          <a:xfrm>
            <a:off x="4950450" y="1095925"/>
            <a:ext cx="3828000" cy="3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Task groups</a:t>
            </a:r>
            <a:r>
              <a:rPr b="1" lang="fr" sz="1500"/>
              <a:t> :</a:t>
            </a:r>
            <a:endParaRPr b="1"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fr" sz="1500"/>
              <a:t>ELT :</a:t>
            </a:r>
            <a:endParaRPr sz="15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/>
              <a:t>Pipeline principal</a:t>
            </a:r>
            <a:r>
              <a:rPr lang="fr" sz="1500"/>
              <a:t> :</a:t>
            </a:r>
            <a:endParaRPr sz="1300"/>
          </a:p>
        </p:txBody>
      </p:sp>
      <p:pic>
        <p:nvPicPr>
          <p:cNvPr id="215" name="Google Shape;21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4850" y="2164375"/>
            <a:ext cx="59436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5775" y="3907451"/>
            <a:ext cx="5943600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Airflow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2"/>
          <p:cNvSpPr txBox="1"/>
          <p:nvPr>
            <p:ph idx="2" type="body"/>
          </p:nvPr>
        </p:nvSpPr>
        <p:spPr>
          <a:xfrm>
            <a:off x="311700" y="1058225"/>
            <a:ext cx="3828000" cy="3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Pipeline manuel</a:t>
            </a:r>
            <a:r>
              <a:rPr b="1" lang="fr" sz="1500"/>
              <a:t> :</a:t>
            </a:r>
            <a:endParaRPr b="1" sz="15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223" name="Google Shape;22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47800"/>
            <a:ext cx="8445400" cy="19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Airflow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3"/>
          <p:cNvSpPr txBox="1"/>
          <p:nvPr>
            <p:ph idx="2" type="body"/>
          </p:nvPr>
        </p:nvSpPr>
        <p:spPr>
          <a:xfrm>
            <a:off x="311700" y="1058225"/>
            <a:ext cx="3828000" cy="3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Ingestion</a:t>
            </a:r>
            <a:r>
              <a:rPr b="1" lang="fr" sz="1500"/>
              <a:t> :</a:t>
            </a:r>
            <a:endParaRPr b="1"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fr" sz="1500"/>
              <a:t>( </a:t>
            </a:r>
            <a:r>
              <a:rPr lang="fr" sz="1500"/>
              <a:t>Chaque mois )</a:t>
            </a:r>
            <a:endParaRPr sz="15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230" name="Google Shape;23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475" y="2060775"/>
            <a:ext cx="5843575" cy="127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Airflow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4"/>
          <p:cNvSpPr txBox="1"/>
          <p:nvPr>
            <p:ph idx="2" type="body"/>
          </p:nvPr>
        </p:nvSpPr>
        <p:spPr>
          <a:xfrm>
            <a:off x="311700" y="1058225"/>
            <a:ext cx="3828000" cy="3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Streaming</a:t>
            </a:r>
            <a:r>
              <a:rPr b="1" lang="fr" sz="1500"/>
              <a:t> :</a:t>
            </a:r>
            <a:endParaRPr b="1"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fr" sz="1500"/>
              <a:t>( Chaque heure )</a:t>
            </a:r>
            <a:endParaRPr sz="15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237" name="Google Shape;2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450" y="2069025"/>
            <a:ext cx="8465100" cy="141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Tests unitaires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Pytest pour FastAPI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6"/>
          <p:cNvSpPr txBox="1"/>
          <p:nvPr/>
        </p:nvSpPr>
        <p:spPr>
          <a:xfrm>
            <a:off x="411600" y="1209425"/>
            <a:ext cx="3000000" cy="38559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tests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fr" sz="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image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fr" sz="9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python:3.11-slim</a:t>
            </a:r>
            <a:endParaRPr sz="9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fr" sz="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container_name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fr" sz="9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tests</a:t>
            </a:r>
            <a:endParaRPr sz="9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fr" sz="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profiles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- </a:t>
            </a:r>
            <a:r>
              <a:rPr lang="fr" sz="9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test</a:t>
            </a:r>
            <a:endParaRPr sz="9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fr" sz="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volumes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- </a:t>
            </a:r>
            <a:r>
              <a:rPr lang="fr" sz="9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./tests:/app</a:t>
            </a:r>
            <a:endParaRPr sz="9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fr" sz="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working_dir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fr" sz="9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/app</a:t>
            </a:r>
            <a:endParaRPr sz="9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fr" sz="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environment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- </a:t>
            </a:r>
            <a:r>
              <a:rPr lang="fr" sz="9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PYTHONPATH=/app</a:t>
            </a:r>
            <a:endParaRPr sz="9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fr" sz="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depends_on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fr" sz="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api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fr" sz="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fr" sz="9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service_healthy</a:t>
            </a:r>
            <a:endParaRPr sz="9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fr" sz="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entrypoint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fr" sz="9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C586C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fr" sz="9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sh -c " pip install httpx &amp;&amp; pip install pytest &amp;&amp; pytest -v "</a:t>
            </a:r>
            <a:endParaRPr sz="9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fr" sz="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networks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fr" sz="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crypto-network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9" name="Google Shape;249;p36"/>
          <p:cNvSpPr txBox="1"/>
          <p:nvPr/>
        </p:nvSpPr>
        <p:spPr>
          <a:xfrm>
            <a:off x="4971175" y="3703025"/>
            <a:ext cx="3000000" cy="13623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httpx</a:t>
            </a:r>
            <a:endParaRPr sz="900">
              <a:solidFill>
                <a:srgbClr val="4EC9B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test_root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():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"http://api:8000/"</a:t>
            </a:r>
            <a:endParaRPr sz="9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httpx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fr" sz="9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fr" sz="9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assert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fr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status_code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fr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404</a:t>
            </a:r>
            <a:endParaRPr sz="900">
              <a:solidFill>
                <a:srgbClr val="B5CEA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50" name="Google Shape;25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1175" y="1209425"/>
            <a:ext cx="2014350" cy="119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Pipelines CI/CD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Github 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38" title="Capture d’écran 2026-07-16 à 14.29.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475" y="1599725"/>
            <a:ext cx="4059374" cy="225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8"/>
          <p:cNvSpPr txBox="1"/>
          <p:nvPr>
            <p:ph idx="1" type="body"/>
          </p:nvPr>
        </p:nvSpPr>
        <p:spPr>
          <a:xfrm>
            <a:off x="133475" y="1058225"/>
            <a:ext cx="3999900" cy="5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/>
              <a:t>Test unitaires</a:t>
            </a:r>
            <a:endParaRPr b="1"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3" name="Google Shape;263;p38"/>
          <p:cNvSpPr txBox="1"/>
          <p:nvPr>
            <p:ph idx="1" type="body"/>
          </p:nvPr>
        </p:nvSpPr>
        <p:spPr>
          <a:xfrm>
            <a:off x="4780525" y="1058225"/>
            <a:ext cx="3999900" cy="5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/>
              <a:t>Build image</a:t>
            </a:r>
            <a:endParaRPr b="1"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64" name="Google Shape;26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1200" y="1599724"/>
            <a:ext cx="4301102" cy="13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31200" y="2976500"/>
            <a:ext cx="2335674" cy="210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Dashboard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Streamlit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3586350" cy="245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1150" y="1210625"/>
            <a:ext cx="4380902" cy="378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Monitoring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Prometheus / Grafana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3619651" cy="192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4451" y="1210625"/>
            <a:ext cx="5067151" cy="276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endParaRPr/>
          </a:p>
        </p:txBody>
      </p:sp>
      <p:sp>
        <p:nvSpPr>
          <p:cNvPr id="300" name="Google Shape;300;p44"/>
          <p:cNvSpPr txBox="1"/>
          <p:nvPr/>
        </p:nvSpPr>
        <p:spPr>
          <a:xfrm>
            <a:off x="311700" y="1004925"/>
            <a:ext cx="8520600" cy="24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Pistes d'amélioration</a:t>
            </a:r>
            <a:r>
              <a:rPr b="1" lang="fr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:</a:t>
            </a:r>
            <a:endParaRPr b="1"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Char char="●"/>
            </a:pPr>
            <a:r>
              <a:rPr lang="fr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Mise au point plus poussée de Cassandra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Char char="●"/>
            </a:pPr>
            <a:r>
              <a:rPr lang="fr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Meilleurs prédictions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Char char="●"/>
            </a:pPr>
            <a:r>
              <a:rPr lang="fr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Mise en place d'une vraie Landing Zone en production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Char char="●"/>
            </a:pPr>
            <a:r>
              <a:rPr lang="fr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Refactoring ( paramétrage de la période )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Char char="●"/>
            </a:pPr>
            <a:r>
              <a:rPr lang="fr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Autres sources de données ( analyse de sentiments d’articles de presse )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Char char="●"/>
            </a:pPr>
            <a:r>
              <a:rPr lang="fr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Robustesse des appels à CCXT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